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4"/>
  </p:handoutMasterIdLst>
  <p:sldIdLst>
    <p:sldId id="375" r:id="rId2"/>
    <p:sldId id="305" r:id="rId3"/>
    <p:sldId id="407" r:id="rId4"/>
    <p:sldId id="409" r:id="rId5"/>
    <p:sldId id="408" r:id="rId6"/>
    <p:sldId id="412" r:id="rId7"/>
    <p:sldId id="411" r:id="rId8"/>
    <p:sldId id="413" r:id="rId9"/>
    <p:sldId id="414" r:id="rId10"/>
    <p:sldId id="415" r:id="rId11"/>
    <p:sldId id="416" r:id="rId12"/>
    <p:sldId id="3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993" autoAdjust="0"/>
  </p:normalViewPr>
  <p:slideViewPr>
    <p:cSldViewPr snapToGrid="0" snapToObjects="1">
      <p:cViewPr>
        <p:scale>
          <a:sx n="50" d="100"/>
          <a:sy n="50" d="100"/>
        </p:scale>
        <p:origin x="1500" y="324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676" r:id="rId6"/>
    <p:sldLayoutId id="2147483675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6" r:id="rId13"/>
    <p:sldLayoutId id="2147483683" r:id="rId14"/>
    <p:sldLayoutId id="2147483685" r:id="rId15"/>
    <p:sldLayoutId id="2147483684" r:id="rId16"/>
    <p:sldLayoutId id="2147483680" r:id="rId17"/>
    <p:sldLayoutId id="2147483691" r:id="rId18"/>
    <p:sldLayoutId id="2147483692" r:id="rId19"/>
    <p:sldLayoutId id="2147483693" r:id="rId20"/>
    <p:sldLayoutId id="2147483694" r:id="rId21"/>
    <p:sldLayoutId id="2147483688" r:id="rId22"/>
    <p:sldLayoutId id="2147483687" r:id="rId23"/>
    <p:sldLayoutId id="2147483689" r:id="rId24"/>
    <p:sldLayoutId id="2147483690" r:id="rId25"/>
    <p:sldLayoutId id="2147483695" r:id="rId26"/>
    <p:sldLayoutId id="2147483696" r:id="rId27"/>
    <p:sldLayoutId id="2147483697" r:id="rId28"/>
    <p:sldLayoutId id="2147483698" r:id="rId29"/>
    <p:sldLayoutId id="2147483703" r:id="rId30"/>
    <p:sldLayoutId id="2147483704" r:id="rId31"/>
    <p:sldLayoutId id="2147483705" r:id="rId32"/>
    <p:sldLayoutId id="2147483706" r:id="rId33"/>
    <p:sldLayoutId id="2147483700" r:id="rId34"/>
    <p:sldLayoutId id="2147483699" r:id="rId35"/>
    <p:sldLayoutId id="2147483701" r:id="rId36"/>
    <p:sldLayoutId id="2147483702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 descr="Woman on tablet 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32" r="4632"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3850" y="5286196"/>
            <a:ext cx="5379525" cy="600254"/>
          </a:xfrm>
        </p:spPr>
        <p:txBody>
          <a:bodyPr>
            <a:normAutofit/>
          </a:bodyPr>
          <a:lstStyle/>
          <a:p>
            <a:r>
              <a:rPr lang="en-US" sz="2400" dirty="0"/>
              <a:t>BY TEENU MARY JOHN</a:t>
            </a:r>
            <a:endParaRPr lang="id-ID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" y="1379095"/>
            <a:ext cx="11443429" cy="339578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Predictive Maintenance Analytics Dashboard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Machine Health Monitoring • Anomaly Detection • Diagnostics Built in Power BI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178B4-CDED-454C-BED2-2E2B10ADA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 &amp; Objective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E9E228-B02C-3941-B458-23CB2D67B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Machines generate continuous sensor data (speed, torque, temperature, wear)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Failures are rare but costly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maintenance is reactive — happens </a:t>
            </a:r>
            <a:r>
              <a:rPr lang="en-US" sz="2000" b="1" dirty="0"/>
              <a:t>after</a:t>
            </a:r>
            <a:r>
              <a:rPr lang="en-US" sz="2000" dirty="0"/>
              <a:t> breakdown</a:t>
            </a:r>
          </a:p>
          <a:p>
            <a:r>
              <a:rPr lang="en-US" sz="2400" b="1" dirty="0"/>
              <a:t>Objective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Detect abnormal machine behavior early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 downtime and repair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 teams shift to </a:t>
            </a:r>
            <a:r>
              <a:rPr lang="en-US" sz="2000" b="1" dirty="0"/>
              <a:t>preventive maintenance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 actionable insights for engineers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9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C081-4044-3B85-4A9F-1FDB45B05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Data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CD2A0-268A-CFA4-8138-8977DE49F0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/>
              <a:t>Dataset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AI4I Predictive Maintenance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10,000+ machine cycles</a:t>
            </a:r>
          </a:p>
          <a:p>
            <a:r>
              <a:rPr lang="en-US" sz="2400" b="1" dirty="0"/>
              <a:t>Key Sensor Fields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Process temperature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Air temperature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Rotational speed (rpm)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Torque (Nm)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Tool wear (min)</a:t>
            </a:r>
          </a:p>
          <a:p>
            <a:r>
              <a:rPr lang="en-US" sz="2400" b="1" dirty="0"/>
              <a:t>Target Labels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Machine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Failure cause (tool wear, heat dissipation, power, overstrain, random)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04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A8A4-64F3-0C5C-6C97-45840D81D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TOOLS AND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B5F0-2124-5208-E516-9B01428E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Tools Used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Power BI</a:t>
            </a:r>
            <a:r>
              <a:rPr lang="en-US" sz="2000" dirty="0"/>
              <a:t> — interactive dashboards &amp; visuals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Power Query</a:t>
            </a:r>
            <a:r>
              <a:rPr lang="en-US" sz="2000" dirty="0"/>
              <a:t> — data shaping and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DAX</a:t>
            </a:r>
            <a:r>
              <a:rPr lang="en-US" sz="2000" dirty="0"/>
              <a:t> — KPI calculations and conditional formatting</a:t>
            </a:r>
          </a:p>
          <a:p>
            <a:r>
              <a:rPr lang="en-US" sz="2400" b="1" dirty="0"/>
              <a:t>Key Methods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Failure &amp; anomaly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Conditional color logic (risk highlighting)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Drillthrough</a:t>
            </a:r>
            <a:r>
              <a:rPr lang="en-US" sz="2000" dirty="0"/>
              <a:t> for machine-level diagnostics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Trend analysis over machine cycles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1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D265-FD1A-81DE-FBA8-181EC7155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DASHBOARD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3B35-081F-0DA2-98AE-C72B3158B1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1.Executive Overview</a:t>
            </a:r>
            <a:br>
              <a:rPr lang="en-US" sz="2000" dirty="0"/>
            </a:br>
            <a:r>
              <a:rPr lang="en-US" sz="2000" dirty="0"/>
              <a:t>High-level summary of fleet health, failures, and anomaly rates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400" b="1" dirty="0"/>
              <a:t>2. Anomaly Operations Center</a:t>
            </a:r>
            <a:br>
              <a:rPr lang="en-US" sz="2000" dirty="0"/>
            </a:br>
            <a:r>
              <a:rPr lang="en-US" sz="2000" dirty="0"/>
              <a:t>Table of abnormal machines with risk indicators and filters</a:t>
            </a:r>
          </a:p>
          <a:p>
            <a:endParaRPr lang="en-US" sz="2000" dirty="0"/>
          </a:p>
          <a:p>
            <a:r>
              <a:rPr lang="en-US" sz="2400" b="1" dirty="0"/>
              <a:t>3. Machine Diagnostics (</a:t>
            </a:r>
            <a:r>
              <a:rPr lang="en-US" sz="2400" b="1" dirty="0" err="1"/>
              <a:t>Drillthrough</a:t>
            </a:r>
            <a:r>
              <a:rPr lang="en-US" sz="2400" b="1" dirty="0"/>
              <a:t>)</a:t>
            </a:r>
            <a:br>
              <a:rPr lang="en-US" sz="2000" dirty="0"/>
            </a:br>
            <a:r>
              <a:rPr lang="en-US" sz="2000" dirty="0"/>
              <a:t>Detailed view for a selected machine with temperature &amp; wear trend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7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6B9F-2DAF-4F59-E6DC-1519DD21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3E02-C271-9E3B-2F40-8BCD38BC0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EXECUTIVE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C5A48-01B3-3FD3-C66E-0B45EDF197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Purpose:</a:t>
            </a:r>
            <a:br>
              <a:rPr lang="en-US" sz="2000" dirty="0"/>
            </a:br>
            <a:r>
              <a:rPr lang="en-US" sz="2000" dirty="0"/>
              <a:t>Quick summary of overall machine health</a:t>
            </a:r>
          </a:p>
          <a:p>
            <a:r>
              <a:rPr lang="en-US" sz="2400" b="1" dirty="0"/>
              <a:t>Key Features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KPI cards: machines, failures, failure rate,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Failures by machine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Machine status (Normal vs Anomaly)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Scatter: Speed vs Torque sized by Tool Wear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Global filters for Product ID &amp; Type</a:t>
            </a:r>
          </a:p>
          <a:p>
            <a:r>
              <a:rPr lang="en-US" sz="2400" b="1" dirty="0"/>
              <a:t>Who uses this:</a:t>
            </a:r>
            <a:br>
              <a:rPr lang="en-US" sz="2000" dirty="0"/>
            </a:br>
            <a:r>
              <a:rPr lang="en-US" sz="2000" dirty="0"/>
              <a:t>Management &amp; operations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6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6DF7-46C2-3A70-ADD0-FEE8BB33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A7F3-E3F4-DA0A-A16E-755B62FB17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Anomaly Operations Center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61CED-E67F-6A54-6530-BFE944C6E9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Purpose:</a:t>
            </a:r>
            <a:br>
              <a:rPr lang="en-US" sz="2000" dirty="0"/>
            </a:br>
            <a:r>
              <a:rPr lang="en-US" sz="2000" dirty="0"/>
              <a:t>Identify high-risk machines that require attention</a:t>
            </a:r>
          </a:p>
          <a:p>
            <a:r>
              <a:rPr lang="en-US" sz="2400" b="1" dirty="0"/>
              <a:t>Key Features</a:t>
            </a:r>
            <a:endParaRPr lang="en-US" sz="2400" dirty="0"/>
          </a:p>
          <a:p>
            <a:r>
              <a:rPr lang="en-US" sz="2000" dirty="0"/>
              <a:t>Table of abnormal machines</a:t>
            </a:r>
          </a:p>
          <a:p>
            <a:r>
              <a:rPr lang="en-US" sz="2000" dirty="0"/>
              <a:t>Conditional color highlighting</a:t>
            </a:r>
          </a:p>
          <a:p>
            <a:r>
              <a:rPr lang="en-US" sz="2000" dirty="0"/>
              <a:t>Filters for Product ID, Machine Type, Status</a:t>
            </a:r>
          </a:p>
          <a:p>
            <a:r>
              <a:rPr lang="en-US" sz="2000" dirty="0"/>
              <a:t>Exportable list for maintenance planning</a:t>
            </a:r>
          </a:p>
          <a:p>
            <a:r>
              <a:rPr lang="en-US" sz="2400" b="1" dirty="0"/>
              <a:t>Who uses this:</a:t>
            </a:r>
            <a:br>
              <a:rPr lang="en-US" sz="2000" dirty="0"/>
            </a:br>
            <a:r>
              <a:rPr lang="en-US" sz="2000" dirty="0"/>
              <a:t>Maintenance &amp; engineering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1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372AE-6823-71C2-6B5E-A9F99232A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MachineDiagnostics-Drillthrough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E0D-2653-D3FB-9300-FE8079CEAC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b="1" dirty="0"/>
              <a:t>Purpose:</a:t>
            </a:r>
            <a:br>
              <a:rPr lang="en-US" sz="2000" dirty="0"/>
            </a:br>
            <a:r>
              <a:rPr lang="en-US" sz="2000" dirty="0"/>
              <a:t>Investigate a single machine in detail</a:t>
            </a:r>
          </a:p>
          <a:p>
            <a:r>
              <a:rPr lang="en-US" sz="2400" b="1" dirty="0"/>
              <a:t>Key Features:</a:t>
            </a:r>
            <a:endParaRPr lang="en-US" sz="2400" dirty="0"/>
          </a:p>
          <a:p>
            <a:r>
              <a:rPr lang="en-US" sz="2000" dirty="0"/>
              <a:t>Opens when user right-clicks a machine</a:t>
            </a:r>
          </a:p>
          <a:p>
            <a:r>
              <a:rPr lang="en-US" sz="2000" dirty="0"/>
              <a:t>Machine-specific KPIs: temperature, speed, torque, wear</a:t>
            </a:r>
          </a:p>
          <a:p>
            <a:r>
              <a:rPr lang="en-US" sz="2000" dirty="0"/>
              <a:t>Temperature trend over time (index-based)</a:t>
            </a:r>
          </a:p>
          <a:p>
            <a:r>
              <a:rPr lang="en-US" sz="2000" dirty="0"/>
              <a:t>“Machine Under Diagnosis” indicator</a:t>
            </a:r>
          </a:p>
          <a:p>
            <a:r>
              <a:rPr lang="en-US" sz="2400" b="1" dirty="0"/>
              <a:t>Who uses this:</a:t>
            </a:r>
            <a:br>
              <a:rPr lang="en-US" sz="2000" dirty="0"/>
            </a:br>
            <a:r>
              <a:rPr lang="en-US" sz="2000" dirty="0"/>
              <a:t>Engineers and technicians for root-cause inspection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5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14A8-6296-727F-76FF-C414FF85D5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B9DE0F-E50C-9A07-3E18-402205C75574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1493971" y="1570797"/>
            <a:ext cx="698300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Failures mainly caused by tool wear and overheating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torque + low RPM forms a high-risk stress zone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machines operate normally; only a small % show anomalies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detection supports preventive maintenance planning</a:t>
            </a:r>
          </a:p>
        </p:txBody>
      </p:sp>
    </p:spTree>
    <p:extLst>
      <p:ext uri="{BB962C8B-B14F-4D97-AF65-F5344CB8AC3E}">
        <p14:creationId xmlns:p14="http://schemas.microsoft.com/office/powerpoint/2010/main" val="221588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4184-0CB7-5825-84BC-36E2C7690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BUSINESS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FEF067-824F-E478-3545-23F54EB62126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1627321" y="1843950"/>
            <a:ext cx="564071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unplanned machine shutdowns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Saves maintenance time and cost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production reliability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shift from reactive to preventive maintenance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data-driven decision making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8065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9E7A-549E-85EF-027A-6BD95FD2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FE9F-BE84-DE72-B7C7-6A0AE20350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480985-2291-2D4E-A2FF-E0F868A59139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1627321" y="1738548"/>
            <a:ext cx="56407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unplanned machine shutdowns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Saves maintenance time and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production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shift from reactive to preventive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415824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5" descr="People reviewing floor plans">
            <a:extLst>
              <a:ext uri="{FF2B5EF4-FFF2-40B4-BE49-F238E27FC236}">
                <a16:creationId xmlns:a16="http://schemas.microsoft.com/office/drawing/2014/main" id="{C4C2D77A-C801-9B4E-B6FB-9402525D5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799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 flipV="1">
            <a:off x="1847850" y="7985806"/>
            <a:ext cx="45719" cy="45719"/>
          </a:xfrm>
        </p:spPr>
        <p:txBody>
          <a:bodyPr>
            <a:normAutofit fontScale="2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SUBTITLE HERE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7239000" cy="1355064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+mn-lt"/>
              </a:rPr>
              <a:t>     THANK YOU</a:t>
            </a:r>
          </a:p>
        </p:txBody>
      </p:sp>
    </p:spTree>
    <p:extLst>
      <p:ext uri="{BB962C8B-B14F-4D97-AF65-F5344CB8AC3E}">
        <p14:creationId xmlns:p14="http://schemas.microsoft.com/office/powerpoint/2010/main" val="406786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clean sophisticated presentation</Template>
  <TotalTime>43</TotalTime>
  <Words>482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Sagona ExtraLight</vt:lpstr>
      <vt:lpstr>Speak Pro</vt:lpstr>
      <vt:lpstr>Office Theme</vt:lpstr>
      <vt:lpstr>Predictive Maintenance Analytics Dashboard Machine Health Monitoring • Anomaly Detection • Diagnostics Built in Power BI</vt:lpstr>
      <vt:lpstr>Problem &amp; Objective</vt:lpstr>
      <vt:lpstr>Data Summary</vt:lpstr>
      <vt:lpstr>TOOLS AND METHODS</vt:lpstr>
      <vt:lpstr>DASHBOARD STRUCTURE</vt:lpstr>
      <vt:lpstr>EXECUTIVE OVERVIEW</vt:lpstr>
      <vt:lpstr>Anomaly Operations Center</vt:lpstr>
      <vt:lpstr>MachineDiagnostics-Drillthrough</vt:lpstr>
      <vt:lpstr>Key Insights</vt:lpstr>
      <vt:lpstr>BUSINESS IMPACT</vt:lpstr>
      <vt:lpstr>FUTURE ENHANCEMENTS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Teenu John</dc:creator>
  <cp:lastModifiedBy>Teenu John</cp:lastModifiedBy>
  <cp:revision>1</cp:revision>
  <dcterms:created xsi:type="dcterms:W3CDTF">2025-11-07T06:42:20Z</dcterms:created>
  <dcterms:modified xsi:type="dcterms:W3CDTF">2025-11-07T07:25:52Z</dcterms:modified>
</cp:coreProperties>
</file>